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68" autoAdjust="0"/>
    <p:restoredTop sz="94660"/>
  </p:normalViewPr>
  <p:slideViewPr>
    <p:cSldViewPr snapToGrid="0">
      <p:cViewPr varScale="1">
        <p:scale>
          <a:sx n="47" d="100"/>
          <a:sy n="47" d="100"/>
        </p:scale>
        <p:origin x="72" y="130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11.06.2026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本次汇报将分为四个部分。首先，我们将介绍项目的背景、动机和目标。其次，详细阐述我们的核心研究内容。接着，我们会展示本项目的创新之处。最后，将介绍我们的研究路线和详细的进度安排。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首先来看项目背景。随着锂电池技术向高能量密度发展，锂金属负极成为研究热点。然而，在充放电过程中，锂的沉积是一个非平衡过程，这会导致形成大量</a:t>
            </a:r>
            <a:r>
              <a:rPr lang="zh-CN" altLang="en-US" sz="1400" b="0" i="0" u="none" strike="noStrike" dirty="0">
                <a:solidFill>
                  <a:srgbClr val="000000"/>
                </a:solidFill>
              </a:rPr>
              <a:t>原子排布趋于无序</a:t>
            </a:r>
            <a:r>
              <a:rPr lang="en-US" sz="1400" b="0" i="0" u="none" strike="noStrike" dirty="0" err="1">
                <a:solidFill>
                  <a:srgbClr val="000000"/>
                </a:solidFill>
              </a:rPr>
              <a:t>的亚稳态晶界。这些晶界是导致锂枝晶生长、电池性能下降甚至安全问题的根源。因此，深入理解这些亚稳态晶界的行为至关重要</a:t>
            </a:r>
            <a:r>
              <a:rPr lang="en-US" sz="1400" b="0" i="0" u="none" strike="noStrike" dirty="0">
                <a:solidFill>
                  <a:srgbClr val="000000"/>
                </a:solidFill>
              </a:rPr>
              <a:t>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目前的研究现状存在两大挑战。第一，由于锂金属本身非常活泼，且亚稳态结构在微观尺度上难以捕捉，实验上很难直接观察到这些晶界的原子级结构。第二，学术界还没有一个公认的标准来量化“亚稳态”的程度，这使得我们无法系统性地研究其对性能的影响，从而阻碍了新材料的开发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针对以上挑战，我们的项目目标非常明确：利用原子模拟的方法，从理论上建立亚稳态晶界的结构特征与它的力学性能之间的联系，为设计更稳定、更安全的锂金属负极提供理论指导。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为了实现目标，我们规划了三个核心研究内容。首先，我们将尝试定义一个可以量化晶界“亚稳程度”的指标M。其次，我们将通过模拟，研究不同亚稳程度的晶界在受力时是如何变形的。最后，我们将建立一个数学模型，将亚稳程度M与材料的临界剪切强度联系起来，实现从结构到性能的预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本项目的核心创新在于引入了SOAP描述符。简单来说，SOAP是一种强大的工具，它能将每个原子周围的复杂三维环境，转换成一个数学上的高维向量。这样，我们就可以通过计算这些向量之间的差异，来精确地量化原子排列的有序或无序程度，从而为定义“亚稳程度”提供了坚实的数学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我们的研究路线将分为三个主要阶段。第一阶段是理论准备和模型构建，预计在今年10月完成。第二阶段是核心的模拟执行和数据表征工作，将持续到明年2月。最后，在第三阶段，我们将对数据进行深入分析，并完成论文的撰写和成果输出。整个项目周期为一年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000000"/>
                </a:solidFill>
              </a:rPr>
              <a:t>这是我们详细的人员分工和时间规划表。从文献调研到最终的论文答辩，我们对每个阶段的任务都进行了明确的划分，并指定了负责人。向星宇同学将主要负责模拟执行和模型构建，张渊博同学则侧重于数据处理和可视化分析。我们将紧密合作，确保项目按时高质量完成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我的汇报到此结束，感谢各位老师的聆听。我们深知研究中还有许多需要完善的地方，恳请各位老师提出宝贵的意见和建议。谢谢大家！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gi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14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svg"/><Relationship Id="rId5" Type="http://schemas.openxmlformats.org/officeDocument/2006/relationships/image" Target="../media/image9.svg"/><Relationship Id="rId4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svg"/><Relationship Id="rId5" Type="http://schemas.openxmlformats.org/officeDocument/2006/relationships/image" Target="../media/image13.svg"/><Relationship Id="rId4" Type="http://schemas.openxmlformats.org/officeDocument/2006/relationships/image" Target="../media/image1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381000" y="2286000"/>
            <a:ext cx="1143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电池用锂金属亚稳态晶界原子尺度结构与力学响应的分析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2286000" y="4318000"/>
            <a:ext cx="7620000" cy="25400"/>
          </a:xfrm>
          <a:prstGeom prst="roundRect">
            <a:avLst>
              <a:gd name="adj" fmla="val 0"/>
            </a:avLst>
          </a:prstGeom>
          <a:solidFill>
            <a:srgbClr val="40E0D0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635000" y="4699000"/>
            <a:ext cx="1092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600" b="0" i="0" u="none" strike="noStrike" dirty="0">
                <a:solidFill>
                  <a:srgbClr val="EBEBEB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本项目采用原子模拟方法，深入探究锂金属负极中亚稳态晶界的微观结构特征与力学行为机制，为优化锂电池电极材料性能、提升电池安全性与循环寿命提供关键的理论支撑。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0" y="5969000"/>
            <a:ext cx="12192000" cy="762000"/>
          </a:xfrm>
          <a:prstGeom prst="roundRect">
            <a:avLst>
              <a:gd name="adj" fmla="val 0"/>
            </a:avLst>
          </a:prstGeom>
          <a:solidFill>
            <a:srgbClr val="40E0D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381000" y="6096000"/>
            <a:ext cx="1143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600" b="0" i="0" u="none" strike="noStrike" dirty="0" err="1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项目核心成员：</a:t>
            </a:r>
            <a:r>
              <a:rPr lang="en-US" sz="1600" b="1" i="0" u="none" strike="noStrike" dirty="0" err="1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向星宇</a:t>
            </a:r>
            <a:r>
              <a:rPr lang="en-US" sz="1600" b="1" i="0" u="none" strike="noStrike" dirty="0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      </a:t>
            </a:r>
            <a:r>
              <a:rPr lang="en-US" sz="1600" b="1" i="0" u="none" strike="noStrike" dirty="0" err="1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张渊博</a:t>
            </a:r>
            <a:r>
              <a:rPr lang="en-US" sz="1600" b="1" i="0" u="none" strike="noStrike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   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F2F2F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5207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40E0D0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76200" cy="17145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79500" y="2159000"/>
            <a:ext cx="88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5365623">
            <a:off x="1524000" y="2851182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F2F2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2413000" y="2222500"/>
            <a:ext cx="3302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F2F2F"/>
                </a:solidFill>
                <a:latin typeface="Noto Sans SC"/>
                <a:ea typeface="Noto Sans SC"/>
                <a:cs typeface="Noto Sans SC"/>
                <a:sym typeface="Noto Sans SC"/>
              </a:rPr>
              <a:t>项目简介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2413000" y="2794000"/>
            <a:ext cx="3365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2F2F2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从项目背景出发，阐述研究动机与核心目标，明确本课题在行业与学术领域的定位和价值。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23000" y="2032000"/>
            <a:ext cx="5207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40E0D0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223000" y="2032000"/>
            <a:ext cx="76200" cy="17145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6540500" y="2159000"/>
            <a:ext cx="88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5365623">
            <a:off x="6985000" y="2851182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F2F2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7874000" y="2222500"/>
            <a:ext cx="3302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F2F2F"/>
                </a:solidFill>
                <a:latin typeface="Noto Sans SC"/>
                <a:ea typeface="Noto Sans SC"/>
                <a:cs typeface="Noto Sans SC"/>
                <a:sym typeface="Noto Sans SC"/>
              </a:rPr>
              <a:t>研究内容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874000" y="2794000"/>
            <a:ext cx="3365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2F2F2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聚焦关键科学问题，拆解核心研究任务，深入分析技术细节与实施路径，构建完整的研究体系。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191000"/>
            <a:ext cx="5207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40E0D0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762000" y="4191000"/>
            <a:ext cx="76200" cy="17145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1079500" y="4318000"/>
            <a:ext cx="88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5365623">
            <a:off x="1524000" y="5010182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F2F2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2413000" y="4381500"/>
            <a:ext cx="3302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F2F2F"/>
                </a:solidFill>
                <a:latin typeface="Noto Sans SC"/>
                <a:ea typeface="Noto Sans SC"/>
                <a:cs typeface="Noto Sans SC"/>
                <a:sym typeface="Noto Sans SC"/>
              </a:rPr>
              <a:t>项目创新点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2413000" y="4953000"/>
            <a:ext cx="3365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2F2F2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突破传统技术瓶颈，展现理论与方法的双重创新，探索具有前瞻性的解决方案与应用场景。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223000" y="4191000"/>
            <a:ext cx="5207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40E0D0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6223000" y="4191000"/>
            <a:ext cx="76200" cy="17145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6540500" y="4318000"/>
            <a:ext cx="88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endParaRPr lang="en-US" sz="1100"/>
          </a:p>
        </p:txBody>
      </p:sp>
      <p:cxnSp>
        <p:nvCxnSpPr>
          <p:cNvPr id="25" name="Connector 25"/>
          <p:cNvCxnSpPr/>
          <p:nvPr/>
        </p:nvCxnSpPr>
        <p:spPr>
          <a:xfrm rot="5365623">
            <a:off x="6985000" y="5010182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F2F2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" name="AutoShape 26"/>
          <p:cNvSpPr/>
          <p:nvPr/>
        </p:nvSpPr>
        <p:spPr>
          <a:xfrm>
            <a:off x="7874000" y="4381500"/>
            <a:ext cx="3302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F2F2F"/>
                </a:solidFill>
                <a:latin typeface="Noto Sans SC"/>
                <a:ea typeface="Noto Sans SC"/>
                <a:cs typeface="Noto Sans SC"/>
                <a:sym typeface="Noto Sans SC"/>
              </a:rPr>
              <a:t>研究路线与进度安排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7874000" y="4953000"/>
            <a:ext cx="3365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2F2F2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规划清晰的阶段式研究路线，制定科学严谨的时间节点，确保项目按计划稳步推进与交付。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F2F2F"/>
                </a:solidFill>
                <a:latin typeface="Noto Sans SC"/>
                <a:ea typeface="Noto Sans SC"/>
                <a:cs typeface="Noto Sans SC"/>
                <a:sym typeface="Noto Sans SC"/>
              </a:rPr>
              <a:t>项目简介 · 背景与动机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5334000" cy="1651000"/>
          </a:xfrm>
          <a:prstGeom prst="roundRect">
            <a:avLst>
              <a:gd name="adj" fmla="val 0"/>
            </a:avLst>
          </a:prstGeom>
          <a:solidFill>
            <a:srgbClr val="40E0D0">
              <a:alpha val="10000"/>
            </a:srgbClr>
          </a:solidFill>
          <a:ln w="12700" cap="flat" cmpd="sng">
            <a:solidFill>
              <a:srgbClr val="40E0D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2159000"/>
            <a:ext cx="4953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5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在全球锂电轻量化、固态锂金属电池产业化高速发展的行业背景下，金属锂负极的电化学沉积过程因热力学非平衡特性，成为制约电池性能突破的核心瓶颈。该过程极易引发原子排布的无序化，进而形成大量结构不稳定的特殊界面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4191000"/>
            <a:ext cx="5334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 dirty="0" err="1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关键内因：亚稳态晶界的形成机制</a:t>
            </a:r>
            <a:endParaRPr lang="en-US" sz="1100" dirty="0">
              <a:solidFill>
                <a:srgbClr val="FF0000"/>
              </a:solidFill>
            </a:endParaRPr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这类原子排布趋近无序的</a:t>
            </a:r>
            <a:r>
              <a:rPr lang="en-US" sz="1400" b="1" i="0" u="none" strike="noStrike" dirty="0">
                <a:solidFill>
                  <a:srgbClr val="2F2F2F"/>
                </a:solidFill>
                <a:latin typeface="Noto Sans SC"/>
                <a:ea typeface="Noto Sans SC"/>
                <a:cs typeface="Noto Sans SC"/>
                <a:sym typeface="Noto Sans SC"/>
              </a:rPr>
              <a:t>“亚稳态晶界”</a:t>
            </a:r>
            <a:r>
              <a:rPr lang="en-US" sz="1400" b="0" i="0" u="none" strike="noStrike" dirty="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，是诱发锂枝晶萌生、导致负极力学失效、加速电池循环衰减的根本原因。深入解析其演化规律，是实现锂金属电池安全长效运行的必要前提。</a:t>
            </a:r>
          </a:p>
        </p:txBody>
      </p:sp>
      <p:cxnSp>
        <p:nvCxnSpPr>
          <p:cNvPr id="7" name="Connector 7"/>
          <p:cNvCxnSpPr/>
          <p:nvPr/>
        </p:nvCxnSpPr>
        <p:spPr>
          <a:xfrm rot="5389257">
            <a:off x="4445000" y="4057660"/>
            <a:ext cx="406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0E0D0">
                <a:alpha val="5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rcRect l="11500" r="11500"/>
          <a:stretch>
            <a:fillRect/>
          </a:stretch>
        </p:blipFill>
        <p:spPr>
          <a:xfrm>
            <a:off x="6731000" y="2032000"/>
            <a:ext cx="2349500" cy="2032000"/>
          </a:xfrm>
          <a:prstGeom prst="rect">
            <a:avLst/>
          </a:prstGeom>
          <a:noFill/>
          <a:ln w="12700" cap="flat" cmpd="sng">
            <a:solidFill>
              <a:srgbClr val="40E0D0">
                <a:alpha val="60000"/>
              </a:srgbClr>
            </a:solidFill>
            <a:prstDash val="solid"/>
            <a:round/>
          </a:ln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rcRect l="17480" r="17480"/>
          <a:stretch>
            <a:fillRect/>
          </a:stretch>
        </p:blipFill>
        <p:spPr>
          <a:xfrm>
            <a:off x="9271000" y="2032000"/>
            <a:ext cx="2349500" cy="2032000"/>
          </a:xfrm>
          <a:prstGeom prst="rect">
            <a:avLst/>
          </a:prstGeom>
          <a:noFill/>
          <a:ln w="12700" cap="flat" cmpd="sng">
            <a:solidFill>
              <a:srgbClr val="40E0D0">
                <a:alpha val="60000"/>
              </a:srgbClr>
            </a:solidFill>
            <a:prstDash val="solid"/>
            <a:round/>
          </a:ln>
        </p:spPr>
      </p:pic>
      <p:sp>
        <p:nvSpPr>
          <p:cNvPr id="10" name="AutoShape 10"/>
          <p:cNvSpPr/>
          <p:nvPr/>
        </p:nvSpPr>
        <p:spPr>
          <a:xfrm>
            <a:off x="6731000" y="4445000"/>
            <a:ext cx="2349500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858000" y="4572000"/>
            <a:ext cx="2095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1400" b="1" i="0" u="none" strike="noStrike" dirty="0" err="1">
                <a:solidFill>
                  <a:srgbClr val="2F2F2F"/>
                </a:solidFill>
                <a:latin typeface="Noto Sans SC"/>
                <a:ea typeface="Noto Sans SC"/>
                <a:cs typeface="Noto Sans SC"/>
                <a:sym typeface="Noto Sans SC"/>
              </a:rPr>
              <a:t>微观视角</a:t>
            </a:r>
            <a:r>
              <a:rPr lang="en-US" sz="1400" b="1" i="0" u="none" strike="noStrike" dirty="0">
                <a:solidFill>
                  <a:srgbClr val="2F2F2F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zh-CN" altLang="zh-CN" b="1" dirty="0">
                <a:solidFill>
                  <a:srgbClr val="2F2F2F"/>
                </a:solidFill>
                <a:latin typeface="Noto Sans SC"/>
                <a:ea typeface="Noto Sans SC"/>
              </a:rPr>
              <a:t>锂枝晶 SEM 图</a:t>
            </a:r>
            <a:endParaRPr lang="en-US" b="1" dirty="0">
              <a:solidFill>
                <a:srgbClr val="2F2F2F"/>
              </a:solidFill>
              <a:latin typeface="Noto Sans SC"/>
              <a:ea typeface="Noto Sans SC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9271000" y="4445000"/>
            <a:ext cx="2349500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9398000" y="4572000"/>
            <a:ext cx="2095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 dirty="0" err="1">
                <a:solidFill>
                  <a:srgbClr val="2F2F2F"/>
                </a:solidFill>
                <a:latin typeface="Noto Sans SC"/>
                <a:ea typeface="Noto Sans SC"/>
                <a:cs typeface="Noto Sans SC"/>
                <a:sym typeface="Noto Sans SC"/>
              </a:rPr>
              <a:t>结构示意</a:t>
            </a:r>
            <a:r>
              <a:rPr lang="en-US" sz="1400" b="1" i="0" u="none" strike="noStrike" dirty="0">
                <a:solidFill>
                  <a:srgbClr val="2F2F2F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r>
              <a:rPr lang="zh-CN" altLang="en-US" sz="1400" b="1" i="0" u="none" strike="noStrike" dirty="0">
                <a:solidFill>
                  <a:srgbClr val="2F2F2F"/>
                </a:solidFill>
                <a:latin typeface="Noto Sans SC"/>
                <a:ea typeface="Noto Sans SC"/>
                <a:cs typeface="Noto Sans SC"/>
                <a:sym typeface="Noto Sans SC"/>
              </a:rPr>
              <a:t>锂金属负极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r>
              <a:rPr lang="en-US" dirty="0"/>
              <a:t>  </a:t>
            </a:r>
            <a:endParaRPr dirty="0"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F2F2F"/>
                </a:solidFill>
                <a:latin typeface="Noto Sans SC"/>
                <a:ea typeface="Noto Sans SC"/>
                <a:cs typeface="Noto Sans SC"/>
                <a:sym typeface="Noto Sans SC"/>
              </a:rPr>
              <a:t>项目简介 · 目前研究现状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 t="3571" b="3571"/>
          <a:stretch>
            <a:fillRect/>
          </a:stretch>
        </p:blipFill>
        <p:spPr>
          <a:xfrm>
            <a:off x="762000" y="2032000"/>
            <a:ext cx="3556000" cy="3302000"/>
          </a:xfrm>
          <a:prstGeom prst="rect">
            <a:avLst/>
          </a:prstGeom>
          <a:noFill/>
          <a:ln w="25400" cap="flat" cmpd="sng">
            <a:solidFill>
              <a:srgbClr val="40E0D0">
                <a:alpha val="80000"/>
              </a:srgbClr>
            </a:solidFill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762000" y="5588000"/>
            <a:ext cx="355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锂金属作为负极材料，具有极高的理论容量，但因其化学性质活泼，在微观观测与量化标准制定上存在极大挑战。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5389257">
            <a:off x="2794000" y="4057660"/>
            <a:ext cx="406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0E0D0">
                <a:alpha val="5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5207000" y="2032000"/>
            <a:ext cx="6223000" cy="1968500"/>
          </a:xfrm>
          <a:prstGeom prst="roundRect">
            <a:avLst>
              <a:gd name="adj" fmla="val 0"/>
            </a:avLst>
          </a:prstGeom>
          <a:solidFill>
            <a:srgbClr val="40E0D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5207000" y="2032000"/>
            <a:ext cx="76200" cy="19685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24500" y="2222500"/>
            <a:ext cx="355600" cy="355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6032500" y="21844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F2F2F"/>
                </a:solidFill>
                <a:latin typeface="Noto Sans SC"/>
                <a:ea typeface="Noto Sans SC"/>
                <a:cs typeface="Noto Sans SC"/>
                <a:sym typeface="Noto Sans SC"/>
              </a:rPr>
              <a:t>01. 微观观测技术受限，捕捉困难</a:t>
            </a:r>
            <a:endParaRPr lang="en-US" sz="1100"/>
          </a:p>
        </p:txBody>
      </p:sp>
      <p:cxnSp>
        <p:nvCxnSpPr>
          <p:cNvPr id="11" name="Connector 11"/>
          <p:cNvCxnSpPr/>
          <p:nvPr/>
        </p:nvCxnSpPr>
        <p:spPr>
          <a:xfrm rot="-7902">
            <a:off x="5524507" y="2787650"/>
            <a:ext cx="5524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F2F2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5524500" y="2984500"/>
            <a:ext cx="571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 dirty="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受锂金属化学高活性、易氧化及微观尺度特性制约，现有实验手段难以突破时空分辨率限制，</a:t>
            </a:r>
            <a:r>
              <a:rPr lang="en-US" sz="1400" b="1" i="0" u="none" strike="noStrike" dirty="0">
                <a:solidFill>
                  <a:srgbClr val="FF0000"/>
                </a:solidFill>
                <a:latin typeface="Noto Sans SC"/>
                <a:ea typeface="Noto Sans SC"/>
                <a:cs typeface="Noto Sans SC"/>
                <a:sym typeface="Noto Sans SC"/>
              </a:rPr>
              <a:t>无法精准捕捉亚稳态晶界原子构型</a:t>
            </a:r>
            <a:r>
              <a:rPr lang="en-US" sz="1400" b="0" i="0" u="none" strike="noStrike" dirty="0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，成为解析其结构演变机制的关键瓶颈。</a:t>
            </a:r>
            <a:endParaRPr lang="en-US" sz="1100" dirty="0"/>
          </a:p>
        </p:txBody>
      </p:sp>
      <p:sp>
        <p:nvSpPr>
          <p:cNvPr id="13" name="AutoShape 13"/>
          <p:cNvSpPr/>
          <p:nvPr/>
        </p:nvSpPr>
        <p:spPr>
          <a:xfrm>
            <a:off x="5207000" y="4318000"/>
            <a:ext cx="6223000" cy="1968500"/>
          </a:xfrm>
          <a:prstGeom prst="roundRect">
            <a:avLst>
              <a:gd name="adj" fmla="val 0"/>
            </a:avLst>
          </a:prstGeom>
          <a:solidFill>
            <a:srgbClr val="40E0D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5207000" y="4318000"/>
            <a:ext cx="76200" cy="19685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24500" y="4508500"/>
            <a:ext cx="355600" cy="355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032500" y="44704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F2F2F"/>
                </a:solidFill>
                <a:latin typeface="Noto Sans SC"/>
                <a:ea typeface="Noto Sans SC"/>
                <a:cs typeface="Noto Sans SC"/>
                <a:sym typeface="Noto Sans SC"/>
              </a:rPr>
              <a:t>02. 量化标准体系空白，研发受阻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7902">
            <a:off x="5524507" y="5073650"/>
            <a:ext cx="5524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F2F2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5524500" y="5207000"/>
            <a:ext cx="5715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学界至今缺少统一的量化标准来定义与评估晶界亚稳程度，导致研究数据缺乏可比性，严重制约了高稳定性锂负极材料的定向设计与迭代研发进程。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F2F2F"/>
                </a:solidFill>
                <a:latin typeface="Noto Sans SC"/>
                <a:ea typeface="Noto Sans SC"/>
                <a:cs typeface="Noto Sans SC"/>
                <a:sym typeface="Noto Sans SC"/>
              </a:rPr>
              <a:t>项目简介 · 项目目标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 t="14168" b="14168"/>
          <a:stretch>
            <a:fillRect/>
          </a:stretch>
        </p:blipFill>
        <p:spPr>
          <a:xfrm>
            <a:off x="762000" y="2032000"/>
            <a:ext cx="4064000" cy="3302000"/>
          </a:xfrm>
          <a:prstGeom prst="rect">
            <a:avLst/>
          </a:prstGeom>
          <a:noFill/>
          <a:ln w="25400" cap="flat" cmpd="sng">
            <a:solidFill>
              <a:srgbClr val="40E0D0">
                <a:alpha val="60000"/>
              </a:srgbClr>
            </a:solidFill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762000" y="55880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just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图示：锂金属负极材料在原子尺度下的微观结构模拟，直观呈现了亚稳晶界的复杂原子排布与界面特征。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5389889">
            <a:off x="3175000" y="4184659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0E0D0">
                <a:alpha val="4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5715000" y="2032000"/>
            <a:ext cx="76200" cy="10795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5969000" y="2006600"/>
            <a:ext cx="5461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2F2F2F"/>
                </a:solidFill>
                <a:latin typeface="Noto Sans SC"/>
                <a:ea typeface="Noto Sans SC"/>
                <a:cs typeface="Noto Sans SC"/>
                <a:sym typeface="Noto Sans SC"/>
              </a:rPr>
              <a:t>原子模拟，解析微观结构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采用高精度的原子尺度模拟技术，深入解析锂金属亚稳晶界的原子排布、位错运动及界面演变规律，从微观视角揭示材料结构的本质特征。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5715000" y="3683000"/>
            <a:ext cx="76200" cy="1079500"/>
          </a:xfrm>
          <a:prstGeom prst="roundRect">
            <a:avLst>
              <a:gd name="adj" fmla="val 0"/>
            </a:avLst>
          </a:prstGeom>
          <a:solidFill>
            <a:srgbClr val="40E0D0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5969000" y="3657600"/>
            <a:ext cx="5461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2F2F2F"/>
                </a:solidFill>
                <a:latin typeface="Noto Sans SC"/>
                <a:ea typeface="Noto Sans SC"/>
                <a:cs typeface="Noto Sans SC"/>
                <a:sym typeface="Noto Sans SC"/>
              </a:rPr>
              <a:t>结构-性能，建立力学关联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系统分析亚稳晶界的结构特征与其力学响应（如强度、韧性、蠕变等）之间的内在联系，构建可量化的结构-性能关联模型，填补理论研究空白。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5715000" y="5207000"/>
            <a:ext cx="76200" cy="1079500"/>
          </a:xfrm>
          <a:prstGeom prst="roundRect">
            <a:avLst>
              <a:gd name="adj" fmla="val 0"/>
            </a:avLst>
          </a:prstGeom>
          <a:solidFill>
            <a:srgbClr val="40E0D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5969000" y="5181600"/>
            <a:ext cx="5461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2F2F2F"/>
                </a:solidFill>
                <a:latin typeface="Noto Sans SC"/>
                <a:ea typeface="Noto Sans SC"/>
                <a:cs typeface="Noto Sans SC"/>
                <a:sym typeface="Noto Sans SC"/>
              </a:rPr>
              <a:t>理论赋能，驱动技术迭代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为锂金属电池负极材料的设计与优化提供坚实的理论依据，助力开发更稳定、更安全、更高能量密度的下一代电池技术，推动新能源产业发展。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F2F2F"/>
                </a:solidFill>
                <a:latin typeface="Noto Sans SC"/>
                <a:ea typeface="Noto Sans SC"/>
                <a:cs typeface="Noto Sans SC"/>
                <a:sym typeface="Noto Sans SC"/>
              </a:rPr>
              <a:t>研究内容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3378200" cy="3429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40E0D0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3378200" cy="762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413000"/>
            <a:ext cx="457200" cy="4572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651000" y="23876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F2F2F"/>
                </a:solidFill>
                <a:latin typeface="Noto Sans SC"/>
                <a:ea typeface="Noto Sans SC"/>
                <a:cs typeface="Noto Sans SC"/>
                <a:sym typeface="Noto Sans SC"/>
              </a:rPr>
              <a:t>01. 亚稳程度定义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5211">
            <a:off x="1016014" y="3168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F2F2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952500" y="3429000"/>
            <a:ext cx="29972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基于SOAP方法提取无序度量化指标，结合晶界能量谱验证指标有效性，进而构建并定义能够表征晶界结构状态的亚稳程度M表达式，为后续研究提供量化基础。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406900" y="2032000"/>
            <a:ext cx="3378200" cy="3429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40E0D0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4406900" y="2032000"/>
            <a:ext cx="3378200" cy="762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60900" y="2413000"/>
            <a:ext cx="457200" cy="4572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295900" y="23876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F2F2F"/>
                </a:solidFill>
                <a:latin typeface="Noto Sans SC"/>
                <a:ea typeface="Noto Sans SC"/>
                <a:cs typeface="Noto Sans SC"/>
                <a:sym typeface="Noto Sans SC"/>
              </a:rPr>
              <a:t>02. 微观变形机制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5211">
            <a:off x="4660914" y="3168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F2F2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597400" y="3429000"/>
            <a:ext cx="29972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对不同M值的晶界施加剪切载荷，记录应力-应变曲线及临界剪切强度；追踪SOAP特征的实时演化规律，识别微观变形机制，建立M值区间与晶界变形模式的对应关系。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051800" y="2032000"/>
            <a:ext cx="3378200" cy="3429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40E0D0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8051800" y="2032000"/>
            <a:ext cx="3378200" cy="762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05800" y="2413000"/>
            <a:ext cx="457200" cy="4572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8940800" y="2387600"/>
            <a:ext cx="228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F2F2F"/>
                </a:solidFill>
                <a:latin typeface="Noto Sans SC"/>
                <a:ea typeface="Noto Sans SC"/>
                <a:cs typeface="Noto Sans SC"/>
                <a:sym typeface="Noto Sans SC"/>
              </a:rPr>
              <a:t>03. 映射关系构建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15211">
            <a:off x="8305814" y="3168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F2F2F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8242300" y="3429000"/>
            <a:ext cx="29972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汇总多组模拟数据集，绘制M-τc散点图，通过数学拟合建立亚稳程度与临界剪切强度的定量映射关系，实现从晶界结构特征到力学性能的精准预测模型构建。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5842000"/>
            <a:ext cx="10668000" cy="635000"/>
          </a:xfrm>
          <a:prstGeom prst="roundRect">
            <a:avLst>
              <a:gd name="adj" fmla="val 0"/>
            </a:avLst>
          </a:prstGeom>
          <a:solidFill>
            <a:srgbClr val="40E0D0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3" name="AutoShape 23"/>
          <p:cNvSpPr/>
          <p:nvPr/>
        </p:nvSpPr>
        <p:spPr>
          <a:xfrm>
            <a:off x="952500" y="5943600"/>
            <a:ext cx="10287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F2F2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核心逻辑：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通过“量化定义→机制解析→模型构建”的闭环路径，揭示晶界亚稳程度对材料力学性能的内在调控规律。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F2F2F"/>
                </a:solidFill>
                <a:latin typeface="Noto Sans SC"/>
                <a:ea typeface="Noto Sans SC"/>
                <a:cs typeface="Noto Sans SC"/>
                <a:sym typeface="Noto Sans SC"/>
              </a:rPr>
              <a:t>项目创新点：引入SOAP描述符系统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 l="4231" r="4231"/>
          <a:stretch>
            <a:fillRect/>
          </a:stretch>
        </p:blipFill>
        <p:spPr>
          <a:xfrm>
            <a:off x="762000" y="1778000"/>
            <a:ext cx="4826000" cy="304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762000" y="5080000"/>
            <a:ext cx="482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64646"/>
                </a:solidFill>
                <a:latin typeface="Noto Sans SC"/>
                <a:ea typeface="Noto Sans SC"/>
                <a:cs typeface="Noto Sans SC"/>
                <a:sym typeface="Noto Sans SC"/>
              </a:rPr>
              <a:t>图示：SOAP描述符将原子周围的局部密度场映射为高维向量，通过核函数度量原子环境的相似度，从而将抽象的“结构有序性”转化为精确的数学语言。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5390450">
            <a:off x="3810000" y="4057659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0E0D0">
                <a:alpha val="4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6350000" y="1778000"/>
            <a:ext cx="5080000" cy="1079500"/>
          </a:xfrm>
          <a:prstGeom prst="roundRect">
            <a:avLst>
              <a:gd name="adj" fmla="val 0"/>
            </a:avLst>
          </a:prstGeom>
          <a:solidFill>
            <a:srgbClr val="40E0D0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350000" y="1778000"/>
            <a:ext cx="76200" cy="10795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6540500" y="1879600"/>
            <a:ext cx="4762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F2F2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核心思想：从定性到定量的跨越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摒弃传统的定性观察，通过数学映射，将“原子局部结构是否规则”这一物理直觉，转化为可计算、可比较的高维向量空间问题。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6350000" y="3175000"/>
            <a:ext cx="16256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40E0D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33020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6413500" y="3683000"/>
            <a:ext cx="1498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F2F2F"/>
                </a:solidFill>
                <a:latin typeface="Noto Sans SC"/>
                <a:ea typeface="Noto Sans SC"/>
                <a:cs typeface="Noto Sans SC"/>
                <a:sym typeface="Noto Sans SC"/>
              </a:rPr>
              <a:t>编码原理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将原子邻居密度编码为高维向量 pᵢ，实现微观环境的数字化表达。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8077200" y="3175000"/>
            <a:ext cx="16256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40E0D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04200" y="33020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8140700" y="3683000"/>
            <a:ext cx="1498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F2F2F"/>
                </a:solidFill>
                <a:latin typeface="Noto Sans SC"/>
                <a:ea typeface="Noto Sans SC"/>
                <a:cs typeface="Noto Sans SC"/>
                <a:sym typeface="Noto Sans SC"/>
              </a:rPr>
              <a:t>多维信息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向量包含径向分布、角向关联及多体相互作用，信息无遗漏。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9804400" y="3175000"/>
            <a:ext cx="16256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40E0D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931400" y="33020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9867900" y="3683000"/>
            <a:ext cx="1498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F2F2F"/>
                </a:solidFill>
                <a:latin typeface="Noto Sans SC"/>
                <a:ea typeface="Noto Sans SC"/>
                <a:cs typeface="Noto Sans SC"/>
                <a:sym typeface="Noto Sans SC"/>
              </a:rPr>
              <a:t>相似度量化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5A5A5A"/>
                </a:solidFill>
                <a:latin typeface="Noto Sans SC"/>
                <a:ea typeface="Noto Sans SC"/>
                <a:cs typeface="Noto Sans SC"/>
                <a:sym typeface="Noto Sans SC"/>
              </a:rPr>
              <a:t>通过向量距离精确衡量原子环境的相似性，数值化定义结构秩序。</a:t>
            </a:r>
          </a:p>
        </p:txBody>
      </p:sp>
      <p:sp>
        <p:nvSpPr>
          <p:cNvPr id="19" name="AutoShape 19"/>
          <p:cNvSpPr/>
          <p:nvPr/>
        </p:nvSpPr>
        <p:spPr>
          <a:xfrm>
            <a:off x="6350000" y="5080000"/>
            <a:ext cx="2476500" cy="1143000"/>
          </a:xfrm>
          <a:prstGeom prst="roundRect">
            <a:avLst>
              <a:gd name="adj" fmla="val 0"/>
            </a:avLst>
          </a:prstGeom>
          <a:solidFill>
            <a:srgbClr val="40E0D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6477000" y="5181600"/>
            <a:ext cx="2222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F2F2F"/>
                </a:solidFill>
                <a:latin typeface="Noto Sans SC"/>
                <a:ea typeface="Noto Sans SC"/>
                <a:cs typeface="Noto Sans SC"/>
                <a:sym typeface="Noto Sans SC"/>
              </a:rPr>
              <a:t>有序环境 (如完美FCC)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原子排列规整，SOAP向量高度收敛，与理想参考向量的偏差极小。</a:t>
            </a:r>
          </a:p>
        </p:txBody>
      </p:sp>
      <p:sp>
        <p:nvSpPr>
          <p:cNvPr id="21" name="AutoShape 21"/>
          <p:cNvSpPr/>
          <p:nvPr/>
        </p:nvSpPr>
        <p:spPr>
          <a:xfrm>
            <a:off x="8953500" y="5080000"/>
            <a:ext cx="2476500" cy="1143000"/>
          </a:xfrm>
          <a:prstGeom prst="roundRect">
            <a:avLst>
              <a:gd name="adj" fmla="val 0"/>
            </a:avLst>
          </a:prstGeom>
          <a:solidFill>
            <a:srgbClr val="40E0D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9080500" y="5181600"/>
            <a:ext cx="2222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F2F2F"/>
                </a:solidFill>
                <a:latin typeface="Noto Sans SC"/>
                <a:ea typeface="Noto Sans SC"/>
                <a:cs typeface="Noto Sans SC"/>
                <a:sym typeface="Noto Sans SC"/>
              </a:rPr>
              <a:t>无序环境 (如晶界/非晶)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原子排布混乱，SOAP向量离散分布，显著偏离理想晶格的参考向量。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F2F2F"/>
                </a:solidFill>
                <a:latin typeface="Noto Sans SC"/>
                <a:ea typeface="Noto Sans SC"/>
                <a:cs typeface="Noto Sans SC"/>
                <a:sym typeface="Noto Sans SC"/>
              </a:rPr>
              <a:t>研究路线与项目进度安排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159000"/>
            <a:ext cx="33782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0E0D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2159000"/>
            <a:ext cx="3378200" cy="762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476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49400" y="2438400"/>
            <a:ext cx="2463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F2F2F"/>
                </a:solidFill>
                <a:latin typeface="Noto Sans SC"/>
                <a:ea typeface="Noto Sans SC"/>
                <a:cs typeface="Noto Sans SC"/>
                <a:sym typeface="Noto Sans SC"/>
              </a:rPr>
              <a:t>阶段一：理论与模型构建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5211">
            <a:off x="1016014" y="3168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F2F2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3429000"/>
            <a:ext cx="2870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2026.06 - 2026.10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4318000"/>
            <a:ext cx="28702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4B4B"/>
                </a:solidFill>
                <a:latin typeface="Noto Sans SC"/>
                <a:ea typeface="Noto Sans SC"/>
                <a:cs typeface="Noto Sans SC"/>
                <a:sym typeface="Noto Sans SC"/>
              </a:rPr>
              <a:t>完成领域前沿文献调研，系统学习SOAP理论框架，搭建高精度的晶界原子模型，为后续模拟奠定坚实理论基础。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406900" y="2159000"/>
            <a:ext cx="33782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0E0D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4406900" y="2159000"/>
            <a:ext cx="3378200" cy="762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60900" y="24765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194300" y="2438400"/>
            <a:ext cx="2463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F2F2F"/>
                </a:solidFill>
                <a:latin typeface="Noto Sans SC"/>
                <a:ea typeface="Noto Sans SC"/>
                <a:cs typeface="Noto Sans SC"/>
                <a:sym typeface="Noto Sans SC"/>
              </a:rPr>
              <a:t>阶段二：模拟与数据表征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15211">
            <a:off x="4660914" y="3168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F2F2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4660900" y="3429000"/>
            <a:ext cx="2870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2026.10 - 2027.02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660900" y="4318000"/>
            <a:ext cx="28702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4B4B"/>
                </a:solidFill>
                <a:latin typeface="Noto Sans SC"/>
                <a:ea typeface="Noto Sans SC"/>
                <a:cs typeface="Noto Sans SC"/>
                <a:sym typeface="Noto Sans SC"/>
              </a:rPr>
              <a:t>开展亚稳态晶界生成模拟，实施多工况力学加载实验，提取关键SOAP特征参数，完成核心数据的采集与初步整理。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051800" y="2159000"/>
            <a:ext cx="3378200" cy="3302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0E0D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8051800" y="2159000"/>
            <a:ext cx="3378200" cy="762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05800" y="24765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8839200" y="2438400"/>
            <a:ext cx="2463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F2F2F"/>
                </a:solidFill>
                <a:latin typeface="Noto Sans SC"/>
                <a:ea typeface="Noto Sans SC"/>
                <a:cs typeface="Noto Sans SC"/>
                <a:sym typeface="Noto Sans SC"/>
              </a:rPr>
              <a:t>阶段三：分析与成果输出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15211">
            <a:off x="8305814" y="3168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F2F2F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8305800" y="3429000"/>
            <a:ext cx="28702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0E0D0"/>
                </a:solidFill>
                <a:latin typeface="Noto Sans SC"/>
                <a:ea typeface="Noto Sans SC"/>
                <a:cs typeface="Noto Sans SC"/>
                <a:sym typeface="Noto Sans SC"/>
              </a:rPr>
              <a:t>2027.02 - 2027.06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305800" y="4318000"/>
            <a:ext cx="28702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 dirty="0" err="1">
                <a:solidFill>
                  <a:srgbClr val="4B4B4B"/>
                </a:solidFill>
                <a:latin typeface="Noto Sans SC"/>
                <a:ea typeface="Noto Sans SC"/>
                <a:cs typeface="Noto Sans SC"/>
                <a:sym typeface="Noto Sans SC"/>
              </a:rPr>
              <a:t>对数据进行拟合与规律挖掘，深入分析微观机制，完成研究论文的撰写、修改与期刊投稿，形成完整成果体系</a:t>
            </a:r>
            <a:r>
              <a:rPr lang="en-US" sz="1400" b="0" i="0" u="none" strike="noStrike" dirty="0">
                <a:solidFill>
                  <a:srgbClr val="4B4B4B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25" name="AutoShape 25"/>
          <p:cNvSpPr/>
          <p:nvPr/>
        </p:nvSpPr>
        <p:spPr>
          <a:xfrm>
            <a:off x="762000" y="5842000"/>
            <a:ext cx="10668000" cy="635000"/>
          </a:xfrm>
          <a:prstGeom prst="roundRect">
            <a:avLst>
              <a:gd name="adj" fmla="val 0"/>
            </a:avLst>
          </a:prstGeom>
          <a:solidFill>
            <a:srgbClr val="40E0D0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6" name="AutoShape 26"/>
          <p:cNvSpPr/>
          <p:nvPr/>
        </p:nvSpPr>
        <p:spPr>
          <a:xfrm>
            <a:off x="1016000" y="5943600"/>
            <a:ext cx="10160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2F2F2F"/>
                </a:solidFill>
                <a:latin typeface="Noto Sans SC"/>
                <a:ea typeface="Noto Sans SC"/>
                <a:cs typeface="Noto Sans SC"/>
                <a:sym typeface="Noto Sans SC"/>
              </a:rPr>
              <a:t>项目整体周期为12个月，各阶段环环相扣，确保从理论探索到成果落地的科学严谨性与高效推进。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2F2F2F"/>
                </a:solidFill>
                <a:latin typeface="Noto Sans SC"/>
                <a:ea typeface="Noto Sans SC"/>
                <a:cs typeface="Noto Sans SC"/>
                <a:sym typeface="Noto Sans SC"/>
              </a:rPr>
              <a:t>人员分工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263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40E0D0">
                <a:alpha val="6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762000" y="1651000"/>
            <a:ext cx="35052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40E0D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1651000"/>
            <a:ext cx="50800" cy="14605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914400" y="1714500"/>
            <a:ext cx="32004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F2F2F"/>
                </a:solidFill>
                <a:latin typeface="Noto Sans SC"/>
                <a:ea typeface="Noto Sans SC"/>
                <a:cs typeface="Noto Sans SC"/>
                <a:sym typeface="Noto Sans SC"/>
              </a:rPr>
              <a:t>01. 文献调研与理论准备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时间：2026年6月~2026年7月</a:t>
            </a:r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分工：向星宇、张渊博共同完成，梳理领域前沿成果，确立研究框架。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762000" y="3365500"/>
            <a:ext cx="35052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40E0D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762000" y="3365500"/>
            <a:ext cx="50800" cy="14605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914400" y="3429000"/>
            <a:ext cx="32004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F2F2F"/>
                </a:solidFill>
                <a:latin typeface="Noto Sans SC"/>
                <a:ea typeface="Noto Sans SC"/>
                <a:cs typeface="Noto Sans SC"/>
                <a:sym typeface="Noto Sans SC"/>
              </a:rPr>
              <a:t>02. SOAP描述符与晶界模型构建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时间：2026年7月~2026年9月</a:t>
            </a:r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分工：两人协作搭建晶界原子模型，完成SOAP描述符的代码实现与参数调试。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762000" y="5080000"/>
            <a:ext cx="35052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40E0D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762000" y="5080000"/>
            <a:ext cx="50800" cy="14605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914400" y="5143500"/>
            <a:ext cx="32004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F2F2F"/>
                </a:solidFill>
                <a:latin typeface="Noto Sans SC"/>
                <a:ea typeface="Noto Sans SC"/>
                <a:cs typeface="Noto Sans SC"/>
                <a:sym typeface="Noto Sans SC"/>
              </a:rPr>
              <a:t>03. 亚稳态晶界生成与表征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时间：2026年9月~2026年10月</a:t>
            </a:r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分工：向星宇负责晶界制备与结构优化；张渊博负责提取SOAP特征并完成初步结构表征。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4483100" y="1651000"/>
            <a:ext cx="35052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40E0D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4483100" y="1651000"/>
            <a:ext cx="50800" cy="14605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4635500" y="1714500"/>
            <a:ext cx="32004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F2F2F"/>
                </a:solidFill>
                <a:latin typeface="Noto Sans SC"/>
                <a:ea typeface="Noto Sans SC"/>
                <a:cs typeface="Noto Sans SC"/>
                <a:sym typeface="Noto Sans SC"/>
              </a:rPr>
              <a:t>04. 亚稳程度定量定义与验证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时间：2026年10月~2026年11月</a:t>
            </a:r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分工：向星宇完成能量稳定性验证；张渊博负责指标量化；共同定义亚稳程度M值参数。</a:t>
            </a:r>
          </a:p>
        </p:txBody>
      </p:sp>
      <p:sp>
        <p:nvSpPr>
          <p:cNvPr id="17" name="AutoShape 17"/>
          <p:cNvSpPr/>
          <p:nvPr/>
        </p:nvSpPr>
        <p:spPr>
          <a:xfrm>
            <a:off x="4483100" y="3365500"/>
            <a:ext cx="35052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40E0D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4483100" y="3365500"/>
            <a:ext cx="50800" cy="14605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4635500" y="3429000"/>
            <a:ext cx="32004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F2F2F"/>
                </a:solidFill>
                <a:latin typeface="Noto Sans SC"/>
                <a:ea typeface="Noto Sans SC"/>
                <a:cs typeface="Noto Sans SC"/>
                <a:sym typeface="Noto Sans SC"/>
              </a:rPr>
              <a:t>05. 力学加载模拟实验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时间：2026年11月~2027年1月</a:t>
            </a:r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分工：向星宇执行分子动力学模拟；张渊博处理模拟数据；共同分析晶界变形的微观机制。</a:t>
            </a:r>
          </a:p>
        </p:txBody>
      </p:sp>
      <p:sp>
        <p:nvSpPr>
          <p:cNvPr id="20" name="AutoShape 20"/>
          <p:cNvSpPr/>
          <p:nvPr/>
        </p:nvSpPr>
        <p:spPr>
          <a:xfrm>
            <a:off x="4483100" y="5080000"/>
            <a:ext cx="35052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40E0D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1" name="AutoShape 21"/>
          <p:cNvSpPr/>
          <p:nvPr/>
        </p:nvSpPr>
        <p:spPr>
          <a:xfrm>
            <a:off x="4483100" y="5080000"/>
            <a:ext cx="50800" cy="14605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4635500" y="5143500"/>
            <a:ext cx="32004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F2F2F"/>
                </a:solidFill>
                <a:latin typeface="Noto Sans SC"/>
                <a:ea typeface="Noto Sans SC"/>
                <a:cs typeface="Noto Sans SC"/>
                <a:sym typeface="Noto Sans SC"/>
              </a:rPr>
              <a:t>06. 变形机制分类与微观分析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时间：2027年1月~2027年2月</a:t>
            </a:r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分工：向星宇对不同晶界变形机制进行归类；张渊博负责微观结构演变的可视化呈现。</a:t>
            </a:r>
          </a:p>
        </p:txBody>
      </p:sp>
      <p:sp>
        <p:nvSpPr>
          <p:cNvPr id="23" name="AutoShape 23"/>
          <p:cNvSpPr/>
          <p:nvPr/>
        </p:nvSpPr>
        <p:spPr>
          <a:xfrm>
            <a:off x="8204200" y="1651000"/>
            <a:ext cx="35052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40E0D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4" name="AutoShape 24"/>
          <p:cNvSpPr/>
          <p:nvPr/>
        </p:nvSpPr>
        <p:spPr>
          <a:xfrm>
            <a:off x="8204200" y="1651000"/>
            <a:ext cx="50800" cy="14605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5" name="AutoShape 25"/>
          <p:cNvSpPr/>
          <p:nvPr/>
        </p:nvSpPr>
        <p:spPr>
          <a:xfrm>
            <a:off x="8356600" y="1714500"/>
            <a:ext cx="32004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F2F2F"/>
                </a:solidFill>
                <a:latin typeface="Noto Sans SC"/>
                <a:ea typeface="Noto Sans SC"/>
                <a:cs typeface="Noto Sans SC"/>
                <a:sym typeface="Noto Sans SC"/>
              </a:rPr>
              <a:t>07. 亚稳程度M与强度τc映射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时间：2027年2月~2027年3月</a:t>
            </a:r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分工：向星宇构建映射关系模型；张渊博开展统计验证；共同撰写阶段性研究报告。</a:t>
            </a:r>
          </a:p>
        </p:txBody>
      </p:sp>
      <p:sp>
        <p:nvSpPr>
          <p:cNvPr id="26" name="AutoShape 26"/>
          <p:cNvSpPr/>
          <p:nvPr/>
        </p:nvSpPr>
        <p:spPr>
          <a:xfrm>
            <a:off x="8204200" y="3365500"/>
            <a:ext cx="35052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40E0D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7" name="AutoShape 27"/>
          <p:cNvSpPr/>
          <p:nvPr/>
        </p:nvSpPr>
        <p:spPr>
          <a:xfrm>
            <a:off x="8204200" y="3365500"/>
            <a:ext cx="50800" cy="14605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8" name="AutoShape 28"/>
          <p:cNvSpPr/>
          <p:nvPr/>
        </p:nvSpPr>
        <p:spPr>
          <a:xfrm>
            <a:off x="8356600" y="3429000"/>
            <a:ext cx="32004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F2F2F"/>
                </a:solidFill>
                <a:latin typeface="Noto Sans SC"/>
                <a:ea typeface="Noto Sans SC"/>
                <a:cs typeface="Noto Sans SC"/>
                <a:sym typeface="Noto Sans SC"/>
              </a:rPr>
              <a:t>08. 论文撰写与中期检查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时间：2027年3月~2027年4月</a:t>
            </a:r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分工：向星宇执笔论文主体内容；张渊博负责图表绘制与数据整理；共同修改完善初稿。</a:t>
            </a:r>
          </a:p>
        </p:txBody>
      </p:sp>
      <p:sp>
        <p:nvSpPr>
          <p:cNvPr id="29" name="AutoShape 29"/>
          <p:cNvSpPr/>
          <p:nvPr/>
        </p:nvSpPr>
        <p:spPr>
          <a:xfrm>
            <a:off x="8204200" y="5080000"/>
            <a:ext cx="35052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65000"/>
            </a:srgbClr>
          </a:solidFill>
          <a:ln w="12700" cap="flat" cmpd="sng">
            <a:solidFill>
              <a:srgbClr val="40E0D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0" name="AutoShape 30"/>
          <p:cNvSpPr/>
          <p:nvPr/>
        </p:nvSpPr>
        <p:spPr>
          <a:xfrm>
            <a:off x="8204200" y="5080000"/>
            <a:ext cx="50800" cy="14605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1" name="AutoShape 31"/>
          <p:cNvSpPr/>
          <p:nvPr/>
        </p:nvSpPr>
        <p:spPr>
          <a:xfrm>
            <a:off x="8356600" y="5143500"/>
            <a:ext cx="3200400" cy="1333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2F2F2F"/>
                </a:solidFill>
                <a:latin typeface="Noto Sans SC"/>
                <a:ea typeface="Noto Sans SC"/>
                <a:cs typeface="Noto Sans SC"/>
                <a:sym typeface="Noto Sans SC"/>
              </a:rPr>
              <a:t>09. 论文投稿与结题答辩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时间：2027年4月~2027年6月</a:t>
            </a:r>
          </a:p>
          <a:p>
            <a:pPr marL="0" indent="0" algn="l">
              <a:lnSpc>
                <a:spcPct val="108333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分工：向星宇负责期刊投稿与答辩汇报；张渊博整理结题材料；两人共同完成最终答辩。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sp>
        <p:nvSpPr>
          <p:cNvPr id="3" name="AutoShape 3"/>
          <p:cNvSpPr/>
          <p:nvPr/>
        </p:nvSpPr>
        <p:spPr>
          <a:xfrm>
            <a:off x="0" y="2921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zh-CN" altLang="en-US" sz="4000" b="1" i="0" u="none" strike="noStrike" dirty="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请各位老师批评指正</a:t>
            </a:r>
            <a:endParaRPr lang="en-US" sz="1100" dirty="0"/>
          </a:p>
        </p:txBody>
      </p:sp>
      <p:sp>
        <p:nvSpPr>
          <p:cNvPr id="4" name="AutoShape 4"/>
          <p:cNvSpPr/>
          <p:nvPr/>
        </p:nvSpPr>
        <p:spPr>
          <a:xfrm>
            <a:off x="5461000" y="4191000"/>
            <a:ext cx="1270000" cy="38100"/>
          </a:xfrm>
          <a:prstGeom prst="roundRect">
            <a:avLst>
              <a:gd name="adj" fmla="val 0"/>
            </a:avLst>
          </a:prstGeom>
          <a:solidFill>
            <a:srgbClr val="40E0D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0" y="4699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1727</TotalTime>
  <Words>799</Words>
  <Application>Microsoft Office PowerPoint</Application>
  <PresentationFormat>宽屏</PresentationFormat>
  <Paragraphs>128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Noto Sans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1</dc:creator>
  <cp:lastModifiedBy>向 星宇</cp:lastModifiedBy>
  <cp:revision>4</cp:revision>
  <dcterms:modified xsi:type="dcterms:W3CDTF">2026-06-12T06:24:44Z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{"Label":"1","ContentProducer":"001191110102MACQD9K64010000","ProduceID":"7649763821658410188","ReservedCode1":"","ContentPropagator":"","PropagateID":"","ReservedCode2":""}</vt:lpwstr>
  </property>
</Properties>
</file>